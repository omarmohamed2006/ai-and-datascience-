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4/13/2026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4/13/2026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4/13/2026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32D6D-94A1-5555-C0A6-28C6C0EE34A2}"/>
              </a:ext>
            </a:extLst>
          </p:cNvPr>
          <p:cNvSpPr>
            <a:spLocks noGrp="1"/>
          </p:cNvSpPr>
          <p:nvPr>
            <p:ph type="ctrTitle"/>
          </p:nvPr>
        </p:nvSpPr>
        <p:spPr/>
        <p:txBody>
          <a:bodyPr/>
          <a:lstStyle/>
          <a:p>
            <a:r>
              <a:rPr lang="en-US" dirty="0" err="1"/>
              <a:t>Hash,Collision,Time</a:t>
            </a:r>
            <a:r>
              <a:rPr lang="en-US" dirty="0"/>
              <a:t> complexity</a:t>
            </a:r>
          </a:p>
        </p:txBody>
      </p:sp>
      <p:sp>
        <p:nvSpPr>
          <p:cNvPr id="3" name="Subtitle 2">
            <a:extLst>
              <a:ext uri="{FF2B5EF4-FFF2-40B4-BE49-F238E27FC236}">
                <a16:creationId xmlns:a16="http://schemas.microsoft.com/office/drawing/2014/main" id="{FC8175AB-9245-D2E8-F012-79602671783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73108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AF62-2606-871A-E33B-3C5A8FD8AA19}"/>
              </a:ext>
            </a:extLst>
          </p:cNvPr>
          <p:cNvSpPr>
            <a:spLocks noGrp="1"/>
          </p:cNvSpPr>
          <p:nvPr>
            <p:ph type="title"/>
          </p:nvPr>
        </p:nvSpPr>
        <p:spPr/>
        <p:txBody>
          <a:bodyPr/>
          <a:lstStyle/>
          <a:p>
            <a:r>
              <a:rPr lang="en-US" dirty="0"/>
              <a:t>Hash</a:t>
            </a:r>
          </a:p>
        </p:txBody>
      </p:sp>
      <p:sp>
        <p:nvSpPr>
          <p:cNvPr id="3" name="Content Placeholder 2">
            <a:extLst>
              <a:ext uri="{FF2B5EF4-FFF2-40B4-BE49-F238E27FC236}">
                <a16:creationId xmlns:a16="http://schemas.microsoft.com/office/drawing/2014/main" id="{17BB6655-C81D-E9FF-7215-EB34ED66A04B}"/>
              </a:ext>
            </a:extLst>
          </p:cNvPr>
          <p:cNvSpPr>
            <a:spLocks noGrp="1"/>
          </p:cNvSpPr>
          <p:nvPr>
            <p:ph idx="1"/>
          </p:nvPr>
        </p:nvSpPr>
        <p:spPr/>
        <p:txBody>
          <a:bodyPr/>
          <a:lstStyle/>
          <a:p>
            <a:r>
              <a:rPr lang="en-US" dirty="0"/>
              <a:t>Hashing Definition:​Hashing is the process of transforming any type of data into a fixed-length value called a Hash Value. The primary goal of this process is to facilitate and speed up data retrieval and searching operations.​:</a:t>
            </a:r>
          </a:p>
          <a:p>
            <a:r>
              <a:rPr lang="en-US" dirty="0"/>
              <a:t>​Key: The original data or input that you want to store or search for.​</a:t>
            </a:r>
          </a:p>
          <a:p>
            <a:r>
              <a:rPr lang="en-US" dirty="0"/>
              <a:t>Hash Function: An algorithm or mathematical formula that maps the Key to a specific numerical index.</a:t>
            </a:r>
          </a:p>
          <a:p>
            <a:r>
              <a:rPr lang="en-US" dirty="0"/>
              <a:t>​Hash Table: A data structure (typically an array) where the data is actually stored at the generated index for immediate access in the future</a:t>
            </a:r>
          </a:p>
        </p:txBody>
      </p:sp>
    </p:spTree>
    <p:extLst>
      <p:ext uri="{BB962C8B-B14F-4D97-AF65-F5344CB8AC3E}">
        <p14:creationId xmlns:p14="http://schemas.microsoft.com/office/powerpoint/2010/main" val="3932617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C338D-E8C2-D38E-ED15-7F359D1AAB05}"/>
              </a:ext>
            </a:extLst>
          </p:cNvPr>
          <p:cNvSpPr>
            <a:spLocks noGrp="1"/>
          </p:cNvSpPr>
          <p:nvPr>
            <p:ph type="title"/>
          </p:nvPr>
        </p:nvSpPr>
        <p:spPr/>
        <p:txBody>
          <a:bodyPr/>
          <a:lstStyle/>
          <a:p>
            <a:r>
              <a:rPr lang="en-US" dirty="0"/>
              <a:t>Collision &amp; Resolution Techniques</a:t>
            </a:r>
          </a:p>
        </p:txBody>
      </p:sp>
      <p:sp>
        <p:nvSpPr>
          <p:cNvPr id="3" name="Content Placeholder 2">
            <a:extLst>
              <a:ext uri="{FF2B5EF4-FFF2-40B4-BE49-F238E27FC236}">
                <a16:creationId xmlns:a16="http://schemas.microsoft.com/office/drawing/2014/main" id="{10CDD12D-DE3D-8D6E-F9F3-FAB05475D589}"/>
              </a:ext>
            </a:extLst>
          </p:cNvPr>
          <p:cNvSpPr>
            <a:spLocks noGrp="1"/>
          </p:cNvSpPr>
          <p:nvPr>
            <p:ph idx="1"/>
          </p:nvPr>
        </p:nvSpPr>
        <p:spPr/>
        <p:txBody>
          <a:bodyPr>
            <a:normAutofit fontScale="85000" lnSpcReduction="20000"/>
          </a:bodyPr>
          <a:lstStyle/>
          <a:p>
            <a:r>
              <a:rPr lang="en-US" dirty="0"/>
              <a:t>A Collision occurs when two different keys result in the same index after passing through the hash function. Since an index can only store one value, we use two main strategies:​</a:t>
            </a:r>
          </a:p>
          <a:p>
            <a:r>
              <a:rPr lang="en-US" dirty="0"/>
              <a:t>Separate Chaining (Open Hashing)​In this method, each slot of the hash table contains a Linked List. When a collision occurs, the new item is simply added to the list at that index.​</a:t>
            </a:r>
          </a:p>
          <a:p>
            <a:r>
              <a:rPr lang="en-US" dirty="0"/>
              <a:t>Advantage: The table never gets "full.</a:t>
            </a:r>
          </a:p>
          <a:p>
            <a:r>
              <a:rPr lang="en-US" dirty="0"/>
              <a:t>"​Disadvantage: Searching slows down if the lists become too long.</a:t>
            </a:r>
          </a:p>
          <a:p>
            <a:r>
              <a:rPr lang="en-US" dirty="0"/>
              <a:t>​2. Open Addressing (Closed Hashing)​In this method, all elements are stored within the hash table itself. If a collision occurs, the algorithm searches for the next available "empty" slot.​</a:t>
            </a:r>
          </a:p>
          <a:p>
            <a:r>
              <a:rPr lang="en-US" dirty="0"/>
              <a:t>Linear Probing: Searches for the next slot sequentially (index + 1).​</a:t>
            </a:r>
          </a:p>
          <a:p>
            <a:r>
              <a:rPr lang="en-US" dirty="0"/>
              <a:t>Quadratic Probing: Searches using a quadratic formula (index + i^2).​</a:t>
            </a:r>
          </a:p>
          <a:p>
            <a:r>
              <a:rPr lang="en-US" dirty="0"/>
              <a:t>Double Hashing: Uses a second hash function to calculate the step size for finding an empty slot.</a:t>
            </a:r>
          </a:p>
        </p:txBody>
      </p:sp>
    </p:spTree>
    <p:extLst>
      <p:ext uri="{BB962C8B-B14F-4D97-AF65-F5344CB8AC3E}">
        <p14:creationId xmlns:p14="http://schemas.microsoft.com/office/powerpoint/2010/main" val="1777658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F518-2319-1A94-D8DE-D15DC4B1FA76}"/>
              </a:ext>
            </a:extLst>
          </p:cNvPr>
          <p:cNvSpPr>
            <a:spLocks noGrp="1"/>
          </p:cNvSpPr>
          <p:nvPr>
            <p:ph type="title"/>
          </p:nvPr>
        </p:nvSpPr>
        <p:spPr/>
        <p:txBody>
          <a:bodyPr/>
          <a:lstStyle/>
          <a:p>
            <a:r>
              <a:rPr lang="en-US" dirty="0"/>
              <a:t>Time Complexity Analysis</a:t>
            </a:r>
          </a:p>
        </p:txBody>
      </p:sp>
      <p:sp>
        <p:nvSpPr>
          <p:cNvPr id="3" name="Content Placeholder 2">
            <a:extLst>
              <a:ext uri="{FF2B5EF4-FFF2-40B4-BE49-F238E27FC236}">
                <a16:creationId xmlns:a16="http://schemas.microsoft.com/office/drawing/2014/main" id="{F4D1114D-9531-980B-F0AD-014C27CB13DE}"/>
              </a:ext>
            </a:extLst>
          </p:cNvPr>
          <p:cNvSpPr>
            <a:spLocks noGrp="1"/>
          </p:cNvSpPr>
          <p:nvPr>
            <p:ph idx="1"/>
          </p:nvPr>
        </p:nvSpPr>
        <p:spPr/>
        <p:txBody>
          <a:bodyPr>
            <a:normAutofit fontScale="92500" lnSpcReduction="20000"/>
          </a:bodyPr>
          <a:lstStyle/>
          <a:p>
            <a:r>
              <a:rPr lang="en-US" dirty="0"/>
              <a:t>The efficiency of a Hash Table is measured by its ability to perform operations in constant time.​</a:t>
            </a:r>
          </a:p>
          <a:p>
            <a:r>
              <a:rPr lang="en-US" dirty="0"/>
              <a:t>1. Best &amp; Average Case: O(1)​Under ideal conditions, where the hash function distributes keys uniformly, searching, inserting, and deleting take Constant Time O(1). This is because the index is calculated directly, providing immediate access to the data.​</a:t>
            </a:r>
          </a:p>
          <a:p>
            <a:r>
              <a:rPr lang="en-US" dirty="0"/>
              <a:t>2. Worst Case: O(n)​The worst case occurs when multiple keys collide at the same index (High Clustering).​In Chaining, if all elements are hashed to the same bucket, the structure behaves like a Linked List, requiring O(n) to find an element.​This usually happens due to a poor hash function or a very high Load Factor.​</a:t>
            </a:r>
          </a:p>
          <a:p>
            <a:r>
              <a:rPr lang="en-US" dirty="0"/>
              <a:t>The Load Factor (\alpha):​It is the ratio of the number of stored elements (n) to the total slots in the table (m).</a:t>
            </a:r>
          </a:p>
        </p:txBody>
      </p:sp>
    </p:spTree>
    <p:extLst>
      <p:ext uri="{BB962C8B-B14F-4D97-AF65-F5344CB8AC3E}">
        <p14:creationId xmlns:p14="http://schemas.microsoft.com/office/powerpoint/2010/main" val="32805637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{72311816-1EDC-44A0-BEF6-365722C5E74C}TF229edf6a-8a49-49ee-a0a6-5037052947485fb3ca0c-bc27bf41d645</Template>
  <TotalTime>14</TotalTime>
  <Words>491</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Century Gothic</vt:lpstr>
      <vt:lpstr>Wingdings 3</vt:lpstr>
      <vt:lpstr>Ion Boardroom</vt:lpstr>
      <vt:lpstr>Hash,Collision,Time complexity</vt:lpstr>
      <vt:lpstr>Hash</vt:lpstr>
      <vt:lpstr>Collision &amp; Resolution Techniques</vt:lpstr>
      <vt:lpstr>Time Complexity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Elbizry</dc:creator>
  <cp:lastModifiedBy>Mohamed Elbizry</cp:lastModifiedBy>
  <cp:revision>1</cp:revision>
  <dcterms:created xsi:type="dcterms:W3CDTF">2026-04-13T09:33:41Z</dcterms:created>
  <dcterms:modified xsi:type="dcterms:W3CDTF">2026-04-13T09:48:01Z</dcterms:modified>
</cp:coreProperties>
</file>